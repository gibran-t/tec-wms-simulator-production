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1.jpg"/><Relationship Id="rId4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0" y="0"/>
            <a:ext cx="6613855" cy="6858000"/>
          </a:xfrm>
          <a:prstGeom prst="rect">
            <a:avLst/>
          </a:prstGeom>
          <a:solidFill>
            <a:srgbClr val="14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51092" y="338328"/>
            <a:ext cx="4654296" cy="6181344"/>
          </a:xfrm>
          <a:prstGeom prst="rect">
            <a:avLst/>
          </a:prstGeom>
          <a:solidFill>
            <a:srgbClr val="2A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gls_truck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374904"/>
            <a:ext cx="4581144" cy="610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058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D48A2A"/>
                </a:solidFill>
                <a:latin typeface="Calibri"/>
              </a:rPr>
              <a:t>TEC.WMS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Module M5
Prendre le quart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164592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Introduction visuelle à la mission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de superviseur d'exploitation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Simulation opérationnelle intégrée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Gestion intégrée des stocks 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de la performance logistique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D6E"/>
                </a:solidFill>
                <a:latin typeface="Calibri"/>
              </a:rPr>
              <a:t>Collège de la Concorde  ·  Peak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PASSAGE DE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E2A38"/>
                </a:solidFill>
                <a:latin typeface="Calibri"/>
              </a:rPr>
              <a:t>Vous n'observez plus un tableau.
Vous ouvrez un quart.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212080" cy="402336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303520" cy="402336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4A5D6E"/>
                </a:solidFill>
                <a:latin typeface="Calibri"/>
              </a:rPr>
              <a:t>Avant — lecture et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Analyser des indicateurs déjà constitués.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Classer une situation.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Proposer une orientation.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Utile. Nécessaire.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Mais ce n'est pas encore diriger le terrain.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48A2A"/>
                </a:solidFill>
                <a:latin typeface="Calibri"/>
              </a:rPr>
              <a:t>M5 — exécution puis décision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Faire avancer les opérations.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Mesurer ce que votre session produit.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Réconcilier les écarts avant de conclure.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Arbitrer sous contrainte de temps.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Défendre une décision avec des preuves.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C'est la posture d'un superviseur de quart.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LE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Un centre de distribution n'attend pas. Il demande une lecture en continu.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7477" y="1161288"/>
            <a:ext cx="3659886" cy="485546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gls_freightline_d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3" y="1197864"/>
            <a:ext cx="3586734" cy="4782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26480"/>
            <a:ext cx="3703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9AA3AB"/>
                </a:solidFill>
                <a:latin typeface="Calibri"/>
              </a:rPr>
              <a:t>Quai actif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3677" y="1161288"/>
            <a:ext cx="3659886" cy="485546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shunter_g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53" y="1197864"/>
            <a:ext cx="3586734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60" y="6126480"/>
            <a:ext cx="3703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9AA3AB"/>
                </a:solidFill>
                <a:latin typeface="Calibri"/>
              </a:rPr>
              <a:t>Cour et 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9877" y="1161288"/>
            <a:ext cx="3659886" cy="485546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docks_143_1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53" y="1197864"/>
            <a:ext cx="3586734" cy="4782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6126480"/>
            <a:ext cx="3703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9AA3AB"/>
                </a:solidFill>
                <a:latin typeface="Calibri"/>
              </a:rPr>
              <a:t>Portes et flux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8F5B"/>
                </a:solidFill>
                <a:latin typeface="Calibri"/>
              </a:rPr>
              <a:t>POSTURE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6583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2A38"/>
                </a:solidFill>
                <a:latin typeface="Calibri"/>
              </a:rPr>
              <a:t>Superviseur d'exploitation :
au cœur du quart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7580"/>
                </a:solidFill>
                <a:latin typeface="Calibri"/>
              </a:rPr>
              <a:t>Ce matin, votre responsabilité n'est pas de « gérer en général ».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2A38"/>
                </a:solidFill>
                <a:latin typeface="Calibri"/>
              </a:rPr>
              <a:t>Vous tenez le quai et les expéditions.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Vous coordonnez chauffeurs, manutentionnaires et priorités.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Vous contrôlez camions, remorques et équipements.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Vous suivez la ponctualité, la sécurité et les délais.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Vous traitez les écarts en temps réel.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Vous mesurez, vous décidez, vous documentez, vous transmettez.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D6E"/>
                </a:solidFill>
                <a:latin typeface="Calibri"/>
              </a:rPr>
              <a:t>Référence terrain : profil Superviseur des opérations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D6E"/>
                </a:solidFill>
                <a:latin typeface="Calibri"/>
              </a:rPr>
              <a:t>(logistique &amp; transport — quart matinal).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6288" y="2125980"/>
            <a:ext cx="4901184" cy="278892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dock_crew_p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162556"/>
            <a:ext cx="4828032" cy="2715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MÉTHODE DE TRAVAIL — MODULE 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E2A38"/>
                </a:solidFill>
                <a:latin typeface="Calibri"/>
              </a:rPr>
              <a:t>Une seule chaîne pour tenir le quart et réussir la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691640" cy="384048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3704" y="146304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4288" y="1417320"/>
            <a:ext cx="1691640" cy="384048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5072" y="146304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5656" y="1417320"/>
            <a:ext cx="1691640" cy="384048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46304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7024" y="1417320"/>
            <a:ext cx="1691640" cy="384048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146304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8392" y="1417320"/>
            <a:ext cx="1691640" cy="384048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48840"/>
            <a:ext cx="2148840" cy="384048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148840"/>
            <a:ext cx="21488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3774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E2A38"/>
                </a:solidFill>
                <a:latin typeface="Calibri"/>
              </a:rPr>
              <a:t>EXÉCUTER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187451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5D6E"/>
                </a:solidFill>
                <a:latin typeface="Calibri"/>
              </a:rPr>
              <a:t>Faire les opérations.
Avancer le fret.
Tenir la séquence.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148840"/>
            <a:ext cx="2148840" cy="384048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2148840"/>
            <a:ext cx="21488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7208" y="23774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E2A38"/>
                </a:solidFill>
                <a:latin typeface="Calibri"/>
              </a:rPr>
              <a:t>MESURER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971800"/>
            <a:ext cx="187451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5D6E"/>
                </a:solidFill>
                <a:latin typeface="Calibri"/>
              </a:rPr>
              <a:t>Lire le terrain.
Relever les écarts.
Ancrer les preuves.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148840"/>
            <a:ext cx="2148840" cy="384048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2148840"/>
            <a:ext cx="21488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23774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E2A38"/>
                </a:solidFill>
                <a:latin typeface="Calibri"/>
              </a:rPr>
              <a:t>RÉCONCILIER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971800"/>
            <a:ext cx="187451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5D6E"/>
                </a:solidFill>
                <a:latin typeface="Calibri"/>
              </a:rPr>
              <a:t>Aligner vu / déclaré.
Corriger avant de conclure.
Fermer la variance.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2148840"/>
            <a:ext cx="2148840" cy="384048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2148840"/>
            <a:ext cx="21488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208" y="23774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E2A38"/>
                </a:solidFill>
                <a:latin typeface="Calibri"/>
              </a:rPr>
              <a:t>ARBITRER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71800"/>
            <a:ext cx="187451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5D6E"/>
                </a:solidFill>
                <a:latin typeface="Calibri"/>
              </a:rPr>
              <a:t>Choisir sous contrainte.
Protéger le service.
Assumer le compromis.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2148840"/>
            <a:ext cx="2148840" cy="384048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480" y="2148840"/>
            <a:ext cx="21488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8" y="23774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E2A38"/>
                </a:solidFill>
                <a:latin typeface="Calibri"/>
              </a:rPr>
              <a:t>DÉFENDRE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971800"/>
            <a:ext cx="187451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A5D6E"/>
                </a:solidFill>
                <a:latin typeface="Calibri"/>
              </a:rPr>
              <a:t>Justifier avec preuves.
Transmettre le quart.
Rendre compte.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554480" cy="347472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9384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3592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EXÉCUTER — faire avancer le fret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AA3AB"/>
                </a:solidFill>
                <a:latin typeface="Calibri"/>
              </a:rPr>
              <a:t>Chargement, déchargement, mise à quai : le superviseur ne commente pas le flux — il le tient.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801" y="1847088"/>
            <a:ext cx="3076956" cy="407822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gls_traile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7" y="1883664"/>
            <a:ext cx="3003804" cy="40050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42281" y="1847088"/>
            <a:ext cx="3076956" cy="407822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yard_tractor_dock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57" y="1883664"/>
            <a:ext cx="3003804" cy="40050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382761" y="1847088"/>
            <a:ext cx="3076956" cy="407822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7_trailer_in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337" y="1883664"/>
            <a:ext cx="3003804" cy="40050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5989320"/>
            <a:ext cx="37490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Contrôle du chargement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989320"/>
            <a:ext cx="37490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Mise à quai et priorités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989320"/>
            <a:ext cx="37490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D48A2A"/>
                </a:solidFill>
                <a:latin typeface="Calibri"/>
              </a:rPr>
              <a:t>Intégrité du fret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SUPERVISION DU QUAI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669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E2A38"/>
                </a:solidFill>
                <a:latin typeface="Calibri"/>
              </a:rPr>
              <a:t>Le quai est votre poste
de commandement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Affecter les portes.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Lire les feux de quai et l'état des docks.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Suivre les remorques en place et celles en attente.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Anticiper les retards avant qu'ils n'explosent.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Chaque porte ouverte ou fermée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>est une décision de capacité.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A5D6E"/>
                </a:solidFill>
                <a:latin typeface="Calibri"/>
              </a:rPr>
              <a:t>Dans M5, exécuter signifie enchaîner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A5D6E"/>
                </a:solidFill>
                <a:latin typeface="Calibri"/>
              </a:rPr>
              <a:t>les opérations sans rupture de séquence 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A5D6E"/>
                </a:solidFill>
                <a:latin typeface="Calibri"/>
              </a:rPr>
              <a:t>puis lire ce que cette exécution a produit.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1484376"/>
            <a:ext cx="2798064" cy="3706368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docks_143_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520952"/>
            <a:ext cx="2724912" cy="36332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62288" y="1545336"/>
            <a:ext cx="2706624" cy="3584448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gls_freightline_d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1581912"/>
            <a:ext cx="2633472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A5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A5D6E"/>
                </a:solidFill>
                <a:latin typeface="Calibri"/>
              </a:rPr>
              <a:t>CONTRÔLE DES ÉQUIPEMENTS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A38"/>
                </a:solidFill>
                <a:latin typeface="Calibri"/>
              </a:rPr>
              <a:t>Camions, remorques, tracteurs de cour — rien ne circule sans vigilance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" y="1344168"/>
            <a:ext cx="3557016" cy="4718304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shunter_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380744"/>
            <a:ext cx="3483864" cy="46451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56532" y="1344168"/>
            <a:ext cx="3557016" cy="4718304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gls_truck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08" y="1380744"/>
            <a:ext cx="3483864" cy="46451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7012" y="1344168"/>
            <a:ext cx="3557016" cy="4718304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reefer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88" y="1380744"/>
            <a:ext cx="3483864" cy="46451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1264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580"/>
                </a:solidFill>
                <a:latin typeface="Calibri"/>
              </a:rPr>
              <a:t>Tracteur de cour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1264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580"/>
                </a:solidFill>
                <a:latin typeface="Calibri"/>
              </a:rPr>
              <a:t>Ensemble routier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1264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580"/>
                </a:solidFill>
                <a:latin typeface="Calibri"/>
              </a:rPr>
              <a:t>Unité frigorifique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9384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28600"/>
            <a:ext cx="1554480" cy="347472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3592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MESURER — lire ce que le terrain produit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1484376"/>
            <a:ext cx="3346704" cy="4437888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reefe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520952"/>
            <a:ext cx="3273552" cy="436473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58768" y="2540317"/>
            <a:ext cx="4078224" cy="2326005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_dock_crew_p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2576893"/>
            <a:ext cx="4005072" cy="22528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14173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8A2A"/>
                </a:solidFill>
                <a:latin typeface="Calibri"/>
              </a:rPr>
              <a:t>Mesurer ≠ regarder un écran.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C'est confronter une consigne à une lecture réelle : température, ponctualité, productivité, sécurité, écarts.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3AB"/>
                </a:solidFill>
                <a:latin typeface="Calibri"/>
              </a:rPr>
              <a:t>Le panneau frigorifique et le suivi de quart font le même métier : ancrer des preuves avant toute conclusion.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 M5, vos indicateurs viennent de votre propre session — pas d'un portefeuille.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01168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9384" y="246888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01168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3592" y="246888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201168"/>
            <a:ext cx="1554480" cy="347472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6888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201168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246888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01168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3152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E2A38"/>
                </a:solidFill>
                <a:latin typeface="Calibri"/>
              </a:rPr>
              <a:t>RÉCONCILIER — aligner le vu et le déclaré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Avant de décider, fermer l'écart. Une décision prise sur une variance ouverte est une décision fragile.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502" y="1709928"/>
            <a:ext cx="3214116" cy="4261104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trailer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" y="1746504"/>
            <a:ext cx="3140964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27982" y="1709928"/>
            <a:ext cx="3214116" cy="4261104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gls_trailer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558" y="1746504"/>
            <a:ext cx="3140964" cy="41879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17830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8A2A"/>
                </a:solidFill>
                <a:latin typeface="Calibri"/>
              </a:rPr>
              <a:t>Sur le terrain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E2A38"/>
                </a:solidFill>
                <a:latin typeface="Calibri"/>
              </a:rPr>
              <a:t>Palettes, étiquettes, barres de maintien, espace libre, température, état de la remorque.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8A2A"/>
                </a:solidFill>
                <a:latin typeface="Calibri"/>
              </a:rPr>
              <a:t>Dans le système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E2A38"/>
                </a:solidFill>
                <a:latin typeface="Calibri"/>
              </a:rPr>
              <a:t>Quantités, emplacements, écarts, statut d'étape, preuves du cycle.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E2A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2A38"/>
                </a:solidFill>
                <a:latin typeface="Calibri"/>
              </a:rPr>
              <a:t>Votre métier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E2A38"/>
                </a:solidFill>
                <a:latin typeface="Calibri"/>
              </a:rPr>
              <a:t>Réconcilier d'abord. Décider ensuite. Justifier avec ce qui a été aligné.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9384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3592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228600"/>
            <a:ext cx="1554480" cy="347472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ARBITRER — décider sous contrainte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057" y="1389888"/>
            <a:ext cx="3522726" cy="4672584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yard_tractor_dock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33" y="1426464"/>
            <a:ext cx="3449574" cy="45994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24528" y="2653189"/>
            <a:ext cx="3758184" cy="2145982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2_supervisor_night_d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689765"/>
            <a:ext cx="3685032" cy="20728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14173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8A2A"/>
                </a:solidFill>
                <a:latin typeface="Calibri"/>
              </a:rPr>
              <a:t>Le terrain impose des contraintes 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météo et adhérence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portes limitées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délais clients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sécurité non négociable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capacité d'équipe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Arbitrer, c'est choisir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ce qui passe en premier,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ce qui attend,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et ce qui est protégé.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3AB"/>
                </a:solidFill>
                <a:latin typeface="Calibri"/>
              </a:rPr>
              <a:t>Sans liste magique.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3AB"/>
                </a:solidFill>
                <a:latin typeface="Calibri"/>
              </a:rPr>
              <a:t>Avec un raisonnement clair.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8F5B"/>
                </a:solidFill>
                <a:latin typeface="Calibri"/>
              </a:rPr>
              <a:t>SÉCURITÉ ET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A38"/>
                </a:solidFill>
                <a:latin typeface="Calibri"/>
              </a:rPr>
              <a:t>Condition permanente — jamais une case à cocher en fin de quart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57400"/>
            <a:ext cx="5632704" cy="32004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supervision_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093976"/>
            <a:ext cx="5559552" cy="31272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27648" y="2134552"/>
            <a:ext cx="5358384" cy="3046095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supervisor_night_d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171128"/>
            <a:ext cx="5285232" cy="29729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669280"/>
            <a:ext cx="11338560" cy="5029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EPI · signaux de quai · communication claire · arrêt d'une manœuvre risquée  →  le service ne justifie jamais l'imprudence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COMMUNICATION OPÉRATIONNELLE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E2A38"/>
                </a:solidFill>
                <a:latin typeface="Calibri"/>
              </a:rPr>
              <a:t>Faire comprendre. Faire exécuter. Faire remonter.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807369"/>
            <a:ext cx="3758184" cy="2145982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briefing_whit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843945"/>
            <a:ext cx="3685032" cy="20728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09160"/>
            <a:ext cx="3794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E2A38"/>
                </a:solidFill>
                <a:latin typeface="Calibri"/>
              </a:rPr>
              <a:t>Briefing d'équipe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7492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B7580"/>
                </a:solidFill>
                <a:latin typeface="Calibri"/>
              </a:rPr>
              <a:t>Aligner priorités et flux avant le rush.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807369"/>
            <a:ext cx="3758184" cy="2145982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supervision_co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843945"/>
            <a:ext cx="3685032" cy="2072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51960" y="4709160"/>
            <a:ext cx="3794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E2A38"/>
                </a:solidFill>
                <a:latin typeface="Calibri"/>
              </a:rPr>
              <a:t>Coaching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507492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B7580"/>
                </a:solidFill>
                <a:latin typeface="Calibri"/>
              </a:rPr>
              <a:t>Corriger en direct, près du fret.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2168" y="1807369"/>
            <a:ext cx="3758184" cy="2145982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_supervisors_tab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1843945"/>
            <a:ext cx="3685032" cy="2072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4709160"/>
            <a:ext cx="3794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E2A38"/>
                </a:solidFill>
                <a:latin typeface="Calibri"/>
              </a:rPr>
              <a:t>Décision partagée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07492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6B7580"/>
                </a:solidFill>
                <a:latin typeface="Calibri"/>
              </a:rPr>
              <a:t>Mesurer ensemble, arbitrer clairement.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EXÉCUTER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9384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MESURER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3592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RÉCONCILIER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228600"/>
            <a:ext cx="1554480" cy="347472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ARBITRER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274320"/>
            <a:ext cx="1097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9AA3A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28600"/>
            <a:ext cx="1554480" cy="347472"/>
          </a:xfrm>
          <a:prstGeom prst="round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DÉFENDRE — justifier, clôturer, transmettre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077402"/>
            <a:ext cx="5724144" cy="3251835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_supervisors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113978"/>
            <a:ext cx="5650992" cy="31786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D48A2A"/>
                </a:solidFill>
                <a:latin typeface="Calibri"/>
              </a:rPr>
              <a:t>En fin de quart, vous ne « partez » pas.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Vous transmettez un état opérationnel.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Ce que vous devez pouvoir défendre 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3AB"/>
                </a:solidFill>
                <a:latin typeface="Calibri"/>
              </a:rPr>
              <a:t>• ce qui a été exécuté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3AB"/>
                </a:solidFill>
                <a:latin typeface="Calibri"/>
              </a:rPr>
              <a:t>• ce qui a été mesuré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3AB"/>
                </a:solidFill>
                <a:latin typeface="Calibri"/>
              </a:rPr>
              <a:t>• ce qui a été réconcilié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3AB"/>
                </a:solidFill>
                <a:latin typeface="Calibri"/>
              </a:rPr>
              <a:t>• ce qui a été arbitré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3AB"/>
                </a:solidFill>
                <a:latin typeface="Calibri"/>
              </a:rPr>
              <a:t>• ce qui reste ouvert pour le suivant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M5 vous prépare à cette exigence 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décider avec des preuves de session,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en vos propres mots, sans phrase magique.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CONTRAT PÉDAGOGIQUE — MODULE M5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A38"/>
                </a:solidFill>
                <a:latin typeface="Calibri"/>
              </a:rPr>
              <a:t>Ce que la mission vous demande — sans vous dicter la réponse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32004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65760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C-M5-01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2A38"/>
                </a:solidFill>
                <a:latin typeface="Calibri"/>
              </a:rPr>
              <a:t>Opérations intégrées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004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D6E"/>
                </a:solidFill>
                <a:latin typeface="Calibri"/>
              </a:rPr>
              <a:t>Enchaîner le cycle de bout en bout.
Tenir la séquence.
Produire des preuves propres.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657600" cy="32004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65760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C-M5-02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2A38"/>
                </a:solidFill>
                <a:latin typeface="Calibri"/>
              </a:rPr>
              <a:t>Action corrective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004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D6E"/>
                </a:solidFill>
                <a:latin typeface="Calibri"/>
              </a:rPr>
              <a:t>Traiter l'écart avant de conclure.
Réconcilier, puis décider.
Ne pas décider sur une variance ouverte.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3657600" cy="32004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365760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48A2A"/>
                </a:solidFill>
                <a:latin typeface="Calibri"/>
              </a:rPr>
              <a:t>C-M5-03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1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2A38"/>
                </a:solidFill>
                <a:latin typeface="Calibri"/>
              </a:rPr>
              <a:t>Décision 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23160"/>
            <a:ext cx="32004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D6E"/>
                </a:solidFill>
                <a:latin typeface="Calibri"/>
              </a:rPr>
              <a:t>Lire l'instantané de votre session.
Arbitrer avec horizon.
Défendre un compromis explicite.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09160"/>
            <a:ext cx="11338560" cy="1325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8A2A"/>
                </a:solidFill>
                <a:latin typeface="Calibri"/>
              </a:rPr>
              <a:t>Règles du jeu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Utilisez vos propres mots. Ancrez-vous sur les preuves de votre session. Le système présente des faits — c'est vous qui produisez le diagnostic et la décision. Seuil de réussite : 70 / 100.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AA3AB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AA3AB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2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79008" y="1700212"/>
            <a:ext cx="6089904" cy="3457575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supervisors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736788"/>
            <a:ext cx="6016752" cy="3384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716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48A2A"/>
                </a:solidFill>
                <a:latin typeface="Calibri"/>
              </a:rPr>
              <a:t>OUVERTURE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Le quart commence.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63240"/>
            <a:ext cx="1463040" cy="63500"/>
          </a:xfrm>
          <a:prstGeom prst="rect">
            <a:avLst/>
          </a:prstGeom>
          <a:solidFill>
            <a:srgbClr val="D4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Exécutez. Mesurez. Réconciliez.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Arbitrez. Défendez.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Vos preuves viendront de votre session.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Votre décision restera la vôtre.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TEC.WMS · Module M5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AA3AB"/>
                </a:solidFill>
                <a:latin typeface="Calibri"/>
              </a:rPr>
              <a:t>Simulation opérationnelle intégrée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8B2B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8B2BC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