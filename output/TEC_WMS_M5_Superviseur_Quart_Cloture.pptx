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69430" y="361188"/>
            <a:ext cx="4549140" cy="6044184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truck_night_g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434" y="393192"/>
            <a:ext cx="4485132" cy="5980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234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TEC.WMS  ·  MODULE M5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Superviseur d'exploitation
Quart de clôture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1371600" cy="50800"/>
          </a:xfrm>
          <a:prstGeom prst="rect">
            <a:avLst/>
          </a:prstGeom>
          <a:solidFill>
            <a:srgbClr val="B86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Introduction à la mission opérationnelle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de supervision — entreposage, transport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et distribution.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PRÉPARER  →  SUPERVISER  →  INTERVENIR  →  CLÔTURER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8A6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A6"/>
                </a:solidFill>
                <a:latin typeface="Calibri"/>
              </a:rP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CONTEXTE DE QUART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Le quart de clôture n'est pas une fin. C'est une responsabilité.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1510" y="141274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freightline_d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" y="1444752"/>
            <a:ext cx="3387852" cy="45171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29150" y="141274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docks_143_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54" y="1444752"/>
            <a:ext cx="3387852" cy="4517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4630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Sur le terrain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Portes actives ou libres.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Remorques en place.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Équipes encore en mouvement.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Délais encore ouverts.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Votre rôle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Tenir le service jusqu'à la transmission — sans laisser d'angle mort pour le prochain responsable.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POSTURE PROFESSIONNELLE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42E"/>
                </a:solidFill>
                <a:latin typeface="Calibri"/>
              </a:rPr>
              <a:t>Ce que tient un superviseur
d'exploitation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Quai, expéditions, affectations et priorités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Mouvement du fret — chargement et déchargement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Camions, remorques et équipements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Chauffeurs et équipes de soutien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Sécurité, conformité et heures de service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Écarts et incidents en temps réel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Suivi de performance et documentation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Transmission fiable en fin de quart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5C6872"/>
                </a:solidFill>
                <a:latin typeface="Calibri"/>
              </a:rPr>
              <a:t>Sélection issue du profil Superviseur des opérations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5C6872"/>
                </a:solidFill>
                <a:latin typeface="Calibri"/>
              </a:rPr>
              <a:t>(logistique et transport) — utiles pour comprendre le M5.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16268" y="2023681"/>
            <a:ext cx="4946904" cy="2810637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supervisor_over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55685"/>
            <a:ext cx="4882896" cy="2746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MISSION TEC.WMS — MODULE 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42E"/>
                </a:solidFill>
                <a:latin typeface="Calibri"/>
              </a:rPr>
              <a:t>Une seule responsabilité de quart.
Pas trois exercices séparés.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383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383280" cy="635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Étape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42E"/>
                </a:solidFill>
                <a:latin typeface="Calibri"/>
              </a:rPr>
              <a:t>Tenir le cycle
nominal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6B2D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828800"/>
            <a:ext cx="3383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828800"/>
            <a:ext cx="3383280" cy="635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Étape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42E"/>
                </a:solidFill>
                <a:latin typeface="Calibri"/>
              </a:rPr>
              <a:t>Traiter l'écart
avant de conclure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6B2D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28800"/>
            <a:ext cx="3383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828800"/>
            <a:ext cx="3383280" cy="63500"/>
          </a:xfrm>
          <a:prstGeom prst="rect">
            <a:avLst/>
          </a:prstGeom>
          <a:solidFill>
            <a:srgbClr val="B86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Étape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514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42E"/>
                </a:solidFill>
                <a:latin typeface="Calibri"/>
              </a:rPr>
              <a:t>Décider et
transmettre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5C6872"/>
                </a:solidFill>
                <a:latin typeface="Calibri"/>
              </a:rPr>
              <a:t>Dans le M5, chaque étape s'appuie sur ce que vous avez déjà exécuté, observé et documenté.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5C6872"/>
                </a:solidFill>
                <a:latin typeface="Calibri"/>
              </a:rPr>
              <a:t>Vos preuves viennent de votre session. Le système présente des faits — vous produisez le raisonnement.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5C6872"/>
                </a:solidFill>
                <a:latin typeface="Calibri"/>
              </a:rPr>
              <a:t>Aucune phrase magique. Aucune conclusion automatique.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ARCHITECTURE DU QUART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Quatre actes. Une continuité.</a:t>
            </a:r>
          </a:p>
        </p:txBody>
      </p:sp>
      <p:sp>
        <p:nvSpPr>
          <p:cNvPr id="4" name="Chevron 3"/>
          <p:cNvSpPr/>
          <p:nvPr/>
        </p:nvSpPr>
        <p:spPr>
          <a:xfrm>
            <a:off x="45720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PRÉPARER</a:t>
            </a:r>
          </a:p>
        </p:txBody>
      </p:sp>
      <p:sp>
        <p:nvSpPr>
          <p:cNvPr id="5" name="Chevron 4"/>
          <p:cNvSpPr/>
          <p:nvPr/>
        </p:nvSpPr>
        <p:spPr>
          <a:xfrm>
            <a:off x="329184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6" name="Chevron 5"/>
          <p:cNvSpPr/>
          <p:nvPr/>
        </p:nvSpPr>
        <p:spPr>
          <a:xfrm>
            <a:off x="612648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INTERVENIR</a:t>
            </a:r>
          </a:p>
        </p:txBody>
      </p:sp>
      <p:sp>
        <p:nvSpPr>
          <p:cNvPr id="7" name="Chevron 6"/>
          <p:cNvSpPr/>
          <p:nvPr/>
        </p:nvSpPr>
        <p:spPr>
          <a:xfrm>
            <a:off x="896112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CLÔTURER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PRÉPARER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Priorités, ressources,
affectations,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SUPERVISER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Suivre le quai, le fret,
les équipements, le rythme.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INTERVENIR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Corriger, sécuriser,
arbitrer sous contrainte.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CLÔTURER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Documenter, transmettre,
laisser un état fiable.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8A6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A6"/>
                </a:solidFill>
                <a:latin typeface="Calibri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PRÉPARER — aligner avant le 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Avant que le flux n'accélère 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clarifier les priorités du reste de quart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confirmer portes, itinéraires et affectations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rappeler les règles de sécurité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s'assurer que chacun sait quoi faire ensuite.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>
                <a:solidFill>
                  <a:srgbClr val="1F6F6A"/>
                </a:solidFill>
                <a:latin typeface="Calibri"/>
              </a:rPr>
              <a:t>Un briefing court vaut mieux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>
                <a:solidFill>
                  <a:srgbClr val="1F6F6A"/>
                </a:solidFill>
                <a:latin typeface="Calibri"/>
              </a:rPr>
              <a:t>qu'une improvisation coûteuse.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6188" y="1980819"/>
            <a:ext cx="5586984" cy="3170682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briefing_whit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2012823"/>
            <a:ext cx="5522976" cy="3106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SUPERVISER — lire le terrain en continu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>
                <a:solidFill>
                  <a:srgbClr val="1F6F6A"/>
                </a:solidFill>
                <a:latin typeface="Calibri"/>
              </a:rPr>
              <a:t>Votre regard reste sur l'exécution.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Fret en cours de chargement.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Contenu réel des remorques.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État de la charge avant départ.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Superviser, c'est confronter ce qui devrait se passer à ce qui se passe — porte par porte, chargement par chargement.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5C6872"/>
                </a:solidFill>
                <a:latin typeface="Calibri"/>
              </a:rPr>
              <a:t>Sans cette lecture, aucune intervention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5C6872"/>
                </a:solidFill>
                <a:latin typeface="Calibri"/>
              </a:rPr>
              <a:t>ni aucune clôture n'est fiable.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4588" y="1421892"/>
            <a:ext cx="3438144" cy="4562856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trailer_open_g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453896"/>
            <a:ext cx="3374136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07908" y="1513332"/>
            <a:ext cx="3300984" cy="4379976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trailer_in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545336"/>
            <a:ext cx="3236976" cy="4315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42E"/>
                </a:solidFill>
                <a:latin typeface="Calibri"/>
              </a:rPr>
              <a:t>SUPERVISER — délais, équipements, conformité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70" y="145846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yard_tractor_s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" y="1490472"/>
            <a:ext cx="3387852" cy="45171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491990" y="145846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reefer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94" y="1490472"/>
            <a:ext cx="3387852" cy="45171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Contraintes du quart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Météo, portes, température, sécurité, ponctualité.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Ce que vous suivez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Tracteurs de cour, remorques, unités frigorifiques.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Le rythme du quai.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Les signaux de conformité.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Superviser, c'est détecter tôt — avant qu'un écart ne devienne un incident.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42E"/>
                </a:solidFill>
                <a:latin typeface="Calibri"/>
              </a:rPr>
              <a:t>INTERVENIR — agir quand la situation l'exige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Stopper une manœuvre  ·  recentrer une équipe  ·  protéger le service et la sécurité  ·  documenter l'action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" y="2326576"/>
            <a:ext cx="5495544" cy="3119247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coaching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358580"/>
            <a:ext cx="5431536" cy="30552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67628" y="2326576"/>
            <a:ext cx="5495544" cy="3119247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_dock_crew_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58580"/>
            <a:ext cx="5431536" cy="3055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CLÔTURER — transmettre un état fiable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" y="1860804"/>
            <a:ext cx="6501384" cy="3685032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handover_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92808"/>
            <a:ext cx="6437376" cy="3621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55448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En fin de quart, vous laissez 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ce qui a été exécuté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ce qui a été mesuré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les écarts traités ou encore ouverts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les actions déjà engagées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ce que le prochain doit reprendre.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Clôturer, ce n'est pas partir.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C'est rendre le quart défendable.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6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OUVERTURE DE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Vous prenez le quart de clôture.</a:t>
            </a:r>
          </a:p>
        </p:txBody>
      </p:sp>
      <p:sp>
        <p:nvSpPr>
          <p:cNvPr id="5" name="Chevron 4"/>
          <p:cNvSpPr/>
          <p:nvPr/>
        </p:nvSpPr>
        <p:spPr>
          <a:xfrm>
            <a:off x="50292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PRÉPARER</a:t>
            </a:r>
          </a:p>
        </p:txBody>
      </p:sp>
      <p:sp>
        <p:nvSpPr>
          <p:cNvPr id="6" name="Chevron 5"/>
          <p:cNvSpPr/>
          <p:nvPr/>
        </p:nvSpPr>
        <p:spPr>
          <a:xfrm>
            <a:off x="331470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7" name="Chevron 6"/>
          <p:cNvSpPr/>
          <p:nvPr/>
        </p:nvSpPr>
        <p:spPr>
          <a:xfrm>
            <a:off x="612648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INTERVENIR</a:t>
            </a:r>
          </a:p>
        </p:txBody>
      </p:sp>
      <p:sp>
        <p:nvSpPr>
          <p:cNvPr id="8" name="Chevron 7"/>
          <p:cNvSpPr/>
          <p:nvPr/>
        </p:nvSpPr>
        <p:spPr>
          <a:xfrm>
            <a:off x="893826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CLÔTURER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Préparez. Supervisez. Intervenez. Clôturez.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Dans TEC.WMS, le Module M5 vous place dans cette continuité 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exécuter, suivre, traiter les écarts, puis justifier une décision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à partir des preuves de votre propre session.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Vos mots. Votre raisonnement. Votre responsabilité.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8A6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A6"/>
                </a:solidFill>
                <a:latin typeface="Calibri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