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69430" y="361188"/>
            <a:ext cx="4549140" cy="6044184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truck_night_g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434" y="393192"/>
            <a:ext cx="4485132" cy="5980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2344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TEC.WMS  ·  MODULE M5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Superviseur d'exploitation
Quart de clôture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83280"/>
            <a:ext cx="1371600" cy="50800"/>
          </a:xfrm>
          <a:prstGeom prst="rect">
            <a:avLst/>
          </a:prstGeom>
          <a:solidFill>
            <a:srgbClr val="B86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>Introduction à la mission opérationnelle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>de supervision — entreposage, transport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>et distribution.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8A959C"/>
                </a:solidFill>
                <a:latin typeface="Calibri"/>
              </a:rPr>
              <a:t>PRÉPARER  →  SUPERVISER  →  INTERVENIR  →  CLÔTURER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8A6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8A6"/>
                </a:solidFill>
                <a:latin typeface="Calibri"/>
              </a:rP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6A"/>
                </a:solidFill>
                <a:latin typeface="Calibri"/>
              </a:rPr>
              <a:t>CONTEXTE DE QUART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42E"/>
                </a:solidFill>
                <a:latin typeface="Calibri"/>
              </a:rPr>
              <a:t>Le quart de clôture n'est pas une fin. C'est une responsabilité.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1510" y="1412748"/>
            <a:ext cx="3451860" cy="4581144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freightline_d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" y="1444752"/>
            <a:ext cx="3387852" cy="45171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29150" y="1412748"/>
            <a:ext cx="3451860" cy="4581144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docks_143_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154" y="1444752"/>
            <a:ext cx="3387852" cy="4517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4630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Sur le terrain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Portes actives ou libres.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Remorques en place.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Équipes encore en mouvement.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Délais encore ouverts.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Votre rôle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Tenir le service jusqu'à la transmission — sans laisser d'angle mort pour le prochain responsable.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6A"/>
                </a:solidFill>
                <a:latin typeface="Calibri"/>
              </a:rPr>
              <a:t>POSTURE PROFESSIONNELLE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42E"/>
                </a:solidFill>
                <a:latin typeface="Calibri"/>
              </a:rPr>
              <a:t>Ce que tient un superviseur
d'exploitation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Quai, expéditions, affectations et priorités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Mouvement du fret — chargement et déchargement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Camions, remorques et équipements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Chauffeurs et équipes de soutien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Sécurité, conformité et heures de service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Écarts et incidents en temps réel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Suivi de performance et documentation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Transmission fiable en fin de quart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5C6872"/>
                </a:solidFill>
                <a:latin typeface="Calibri"/>
              </a:rPr>
              <a:t>Sélection issue du profil Superviseur des opérations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5C6872"/>
                </a:solidFill>
                <a:latin typeface="Calibri"/>
              </a:rPr>
              <a:t>(logistique et transport) — utiles pour comprendre le M5.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16268" y="2023681"/>
            <a:ext cx="4946904" cy="2810637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supervisor_over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55685"/>
            <a:ext cx="4882896" cy="2746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6A"/>
                </a:solidFill>
                <a:latin typeface="Calibri"/>
              </a:rPr>
              <a:t>MISSION TEC.WMS — MODULE 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42E"/>
                </a:solidFill>
                <a:latin typeface="Calibri"/>
              </a:rPr>
              <a:t>Une seule responsabilité de quart.
Pas trois exercices séparés.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Calibri"/>
              </a:rPr>
              <a:t>Dans le M5, chaque acte s'appuie sur ce que vous avez déjà préparé, supervisé et documenté.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Calibri"/>
              </a:rPr>
              <a:t>Vos preuves viennent de votre session. Le système présente des faits — vous produisez le raisonnement.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C6872"/>
                </a:solidFill>
                <a:latin typeface="Calibri"/>
              </a:rPr>
              <a:t>Aucune phrase magique. Aucune conclusion automatique.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4/11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828800"/>
            <a:ext cx="2711196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1828800"/>
            <a:ext cx="2711196" cy="6350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057400"/>
            <a:ext cx="24551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6A"/>
                </a:solidFill>
                <a:latin typeface="Calibri"/>
              </a:rPr>
              <a:t>PRÉPARER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" y="2450000"/>
            <a:ext cx="245516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Aligner le quart,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les priorités et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les ressources.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87268" y="1828800"/>
            <a:ext cx="2711196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87268" y="1828800"/>
            <a:ext cx="2711196" cy="6350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33572" y="2057400"/>
            <a:ext cx="24551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6A"/>
                </a:solidFill>
                <a:latin typeface="Calibri"/>
              </a:rPr>
              <a:t>SUPERVISER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3572" y="2450000"/>
            <a:ext cx="245516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Suivre la réalité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de l'exploitation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et l'exécution.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1828800"/>
            <a:ext cx="2711196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3056" y="1828800"/>
            <a:ext cx="2711196" cy="6350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057400"/>
            <a:ext cx="24551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6A"/>
                </a:solidFill>
                <a:latin typeface="Calibri"/>
              </a:rPr>
              <a:t>INTERVENIR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450000"/>
            <a:ext cx="245516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Traiter les écarts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et protéger la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continuité opérationnelle.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38844" y="1828800"/>
            <a:ext cx="2711196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38844" y="1828800"/>
            <a:ext cx="2711196" cy="63500"/>
          </a:xfrm>
          <a:prstGeom prst="rect">
            <a:avLst/>
          </a:prstGeom>
          <a:solidFill>
            <a:srgbClr val="B86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5148" y="2057400"/>
            <a:ext cx="24551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6A"/>
                </a:solidFill>
                <a:latin typeface="Calibri"/>
              </a:rPr>
              <a:t>CLÔTURER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5148" y="2450000"/>
            <a:ext cx="245516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Consolider l'état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du quart et transmettre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une information fiable.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6A"/>
                </a:solidFill>
                <a:latin typeface="Calibri"/>
              </a:rPr>
              <a:t>ARCHITECTURE DU QUART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Quatre actes. Une continuité.</a:t>
            </a:r>
          </a:p>
        </p:txBody>
      </p:sp>
      <p:sp>
        <p:nvSpPr>
          <p:cNvPr id="4" name="Chevron 3"/>
          <p:cNvSpPr/>
          <p:nvPr/>
        </p:nvSpPr>
        <p:spPr>
          <a:xfrm>
            <a:off x="457200" y="1554480"/>
            <a:ext cx="274320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PRÉPARER</a:t>
            </a:r>
          </a:p>
        </p:txBody>
      </p:sp>
      <p:sp>
        <p:nvSpPr>
          <p:cNvPr id="5" name="Chevron 4"/>
          <p:cNvSpPr/>
          <p:nvPr/>
        </p:nvSpPr>
        <p:spPr>
          <a:xfrm>
            <a:off x="3291840" y="1554480"/>
            <a:ext cx="274320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SUPERVISER</a:t>
            </a:r>
          </a:p>
        </p:txBody>
      </p:sp>
      <p:sp>
        <p:nvSpPr>
          <p:cNvPr id="6" name="Chevron 5"/>
          <p:cNvSpPr/>
          <p:nvPr/>
        </p:nvSpPr>
        <p:spPr>
          <a:xfrm>
            <a:off x="6126480" y="1554480"/>
            <a:ext cx="274320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INTERVENIR</a:t>
            </a:r>
          </a:p>
        </p:txBody>
      </p:sp>
      <p:sp>
        <p:nvSpPr>
          <p:cNvPr id="7" name="Chevron 6"/>
          <p:cNvSpPr/>
          <p:nvPr/>
        </p:nvSpPr>
        <p:spPr>
          <a:xfrm>
            <a:off x="8961120" y="1554480"/>
            <a:ext cx="274320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CLÔTURER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697480" cy="3200400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B2D"/>
                </a:solidFill>
                <a:latin typeface="Calibri"/>
              </a:rPr>
              <a:t>PRÉPARER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Priorités, ressources,
affectations,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377440"/>
            <a:ext cx="2697480" cy="3200400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B2D"/>
                </a:solidFill>
                <a:latin typeface="Calibri"/>
              </a:rPr>
              <a:t>SUPERVISER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004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Suivre le quai, le fret,
les équipements, le rythme.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2697480" cy="3200400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B2D"/>
                </a:solidFill>
                <a:latin typeface="Calibri"/>
              </a:rPr>
              <a:t>INTERVENIR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Corriger, sécuriser,
arbitrer sous contrainte.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377440"/>
            <a:ext cx="2697480" cy="3200400"/>
          </a:xfrm>
          <a:prstGeom prst="rect">
            <a:avLst/>
          </a:prstGeom>
          <a:solidFill>
            <a:srgbClr val="14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651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B2D"/>
                </a:solidFill>
                <a:latin typeface="Calibri"/>
              </a:rPr>
              <a:t>CLÔTURER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2004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Documenter, transmettre,
laisser un état fiable.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8A6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8A6"/>
                </a:solidFill>
                <a:latin typeface="Calibri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42E"/>
                </a:solidFill>
                <a:latin typeface="Calibri"/>
              </a:rPr>
              <a:t>PRÉPARER — aligner avant le 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Avant que le flux n'accélère 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clarifier les priorités du reste de quart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confirmer portes, itinéraires et affectations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rappeler les règles de sécurité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>• s'assurer que chacun sait quoi faire ensuite.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1">
                <a:solidFill>
                  <a:srgbClr val="1F6F6A"/>
                </a:solidFill>
                <a:latin typeface="Calibri"/>
              </a:rPr>
              <a:t>Un briefing court vaut mieux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1">
                <a:solidFill>
                  <a:srgbClr val="1F6F6A"/>
                </a:solidFill>
                <a:latin typeface="Calibri"/>
              </a:rPr>
              <a:t>qu'une improvisation coûteuse.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6188" y="1980819"/>
            <a:ext cx="5586984" cy="3170682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briefing_whit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2012823"/>
            <a:ext cx="5522976" cy="3106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42E"/>
                </a:solidFill>
                <a:latin typeface="Calibri"/>
              </a:rPr>
              <a:t>SUPERVISER — lire le terrain en continu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1">
                <a:solidFill>
                  <a:srgbClr val="1F6F6A"/>
                </a:solidFill>
                <a:latin typeface="Calibri"/>
              </a:rPr>
              <a:t>Votre regard reste sur l'exécution.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Fret en cours de chargement.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Contenu réel des remorques.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État de la charge avant départ.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Superviser, c'est confronter ce qui devrait se passer à ce qui se passe — porte par porte, chargement par chargement.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5C6872"/>
                </a:solidFill>
                <a:latin typeface="Calibri"/>
              </a:rPr>
              <a:t>Sans cette lecture, aucune intervention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5C6872"/>
                </a:solidFill>
                <a:latin typeface="Calibri"/>
              </a:rPr>
              <a:t>ni aucune clôture n'est fiable.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4588" y="1421892"/>
            <a:ext cx="3438144" cy="4562856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trailer_open_g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453896"/>
            <a:ext cx="3374136" cy="44988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07908" y="1513332"/>
            <a:ext cx="3300984" cy="4379976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trailer_in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545336"/>
            <a:ext cx="3236976" cy="4315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42E"/>
                </a:solidFill>
                <a:latin typeface="Calibri"/>
              </a:rPr>
              <a:t>SUPERVISER — délais, équipements, conformité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70" y="1458468"/>
            <a:ext cx="3451860" cy="4581144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yard_tractor_s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" y="1490472"/>
            <a:ext cx="3387852" cy="45171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491990" y="1458468"/>
            <a:ext cx="3451860" cy="4581144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reefer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994" y="1490472"/>
            <a:ext cx="3387852" cy="45171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0" y="15544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Contraintes du quart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Météo, portes, température, sécurité, ponctualité.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Ce que vous suivez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Tracteurs de cour, remorques, unités frigorifiques.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Le rythme du quai.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Les signaux de conformité.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>
                <a:solidFill>
                  <a:srgbClr val="1B242E"/>
                </a:solidFill>
                <a:latin typeface="Calibri"/>
              </a:rPr>
              <a:t>Superviser, c'est détecter tôt — avant qu'un écart ne devienne un incident.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42E"/>
                </a:solidFill>
                <a:latin typeface="Calibri"/>
              </a:rPr>
              <a:t>INTERVENIR — agir quand la situation l'exige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Stopper une manœuvre  ·  recentrer une équipe  ·  protéger le service et la sécurité  ·  documenter l'action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" y="2326576"/>
            <a:ext cx="5495544" cy="3119247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_coaching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358580"/>
            <a:ext cx="5431536" cy="30552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67628" y="2326576"/>
            <a:ext cx="5495544" cy="3119247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_dock_crew_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58580"/>
            <a:ext cx="5431536" cy="30552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411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PRÉPARER</a:t>
            </a:r>
          </a:p>
        </p:txBody>
      </p:sp>
      <p:sp>
        <p:nvSpPr>
          <p:cNvPr id="3" name="Chevron 2"/>
          <p:cNvSpPr/>
          <p:nvPr/>
        </p:nvSpPr>
        <p:spPr>
          <a:xfrm>
            <a:off x="32689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SUPERVISER</a:t>
            </a:r>
          </a:p>
        </p:txBody>
      </p:sp>
      <p:sp>
        <p:nvSpPr>
          <p:cNvPr id="4" name="Chevron 3"/>
          <p:cNvSpPr/>
          <p:nvPr/>
        </p:nvSpPr>
        <p:spPr>
          <a:xfrm>
            <a:off x="6126480" y="228600"/>
            <a:ext cx="2766060" cy="438912"/>
          </a:xfrm>
          <a:prstGeom prst="chevron">
            <a:avLst/>
          </a:prstGeom>
          <a:solidFill>
            <a:srgbClr val="D5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B242E"/>
                </a:solidFill>
                <a:latin typeface="Calibri"/>
              </a:rPr>
              <a:t>INTERVENIR</a:t>
            </a:r>
          </a:p>
        </p:txBody>
      </p:sp>
      <p:sp>
        <p:nvSpPr>
          <p:cNvPr id="5" name="Chevron 4"/>
          <p:cNvSpPr/>
          <p:nvPr/>
        </p:nvSpPr>
        <p:spPr>
          <a:xfrm>
            <a:off x="8983980" y="228600"/>
            <a:ext cx="276606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CLÔTURER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42E"/>
                </a:solidFill>
                <a:latin typeface="Calibri"/>
              </a:rPr>
              <a:t>CLÔTURER — transmettre un état fiable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" y="1860804"/>
            <a:ext cx="6501384" cy="3685032"/>
          </a:xfrm>
          <a:prstGeom prst="rect">
            <a:avLst/>
          </a:prstGeom>
          <a:solidFill>
            <a:srgbClr val="E3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handover_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92808"/>
            <a:ext cx="6437376" cy="3621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55448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F6F6A"/>
                </a:solidFill>
                <a:latin typeface="Calibri"/>
              </a:rPr>
              <a:t>En fin de quart, vous laissez 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ce qui a été exécuté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ce qui a été mesuré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les écarts traités ou encore ouverts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les actions déjà engagées ;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>• ce que le prochain doit reprendre.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>
                <a:solidFill>
                  <a:srgbClr val="1B242E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Clôturer, ce n'est pas partir.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1B242E"/>
                </a:solidFill>
                <a:latin typeface="Calibri"/>
              </a:rPr>
              <a:t>C'est rendre le quart défendable.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59C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59C"/>
                </a:solidFill>
                <a:latin typeface="Calibri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6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Calibri"/>
              </a:rPr>
              <a:t>OUVERTURE DE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Vous prenez le quart de clôture.</a:t>
            </a:r>
          </a:p>
        </p:txBody>
      </p:sp>
      <p:sp>
        <p:nvSpPr>
          <p:cNvPr id="5" name="Chevron 4"/>
          <p:cNvSpPr/>
          <p:nvPr/>
        </p:nvSpPr>
        <p:spPr>
          <a:xfrm>
            <a:off x="502920" y="2468880"/>
            <a:ext cx="272034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PRÉPARER</a:t>
            </a:r>
          </a:p>
        </p:txBody>
      </p:sp>
      <p:sp>
        <p:nvSpPr>
          <p:cNvPr id="6" name="Chevron 5"/>
          <p:cNvSpPr/>
          <p:nvPr/>
        </p:nvSpPr>
        <p:spPr>
          <a:xfrm>
            <a:off x="3314700" y="2468880"/>
            <a:ext cx="272034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SUPERVISER</a:t>
            </a:r>
          </a:p>
        </p:txBody>
      </p:sp>
      <p:sp>
        <p:nvSpPr>
          <p:cNvPr id="7" name="Chevron 6"/>
          <p:cNvSpPr/>
          <p:nvPr/>
        </p:nvSpPr>
        <p:spPr>
          <a:xfrm>
            <a:off x="6126480" y="2468880"/>
            <a:ext cx="272034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INTERVENIR</a:t>
            </a:r>
          </a:p>
        </p:txBody>
      </p:sp>
      <p:sp>
        <p:nvSpPr>
          <p:cNvPr id="8" name="Chevron 7"/>
          <p:cNvSpPr/>
          <p:nvPr/>
        </p:nvSpPr>
        <p:spPr>
          <a:xfrm>
            <a:off x="8938260" y="2468880"/>
            <a:ext cx="2720340" cy="438912"/>
          </a:xfrm>
          <a:prstGeom prst="chevron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CLÔTURER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Préparez. Supervisez. Intervenez. Clôturez.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Dans TEC.WMS, le Module M5 vous place dans cette continuité 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exécuter, suivre, traiter les écarts, puis justifier une décision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à partir des preuves de votre propre session.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0">
                <a:solidFill>
                  <a:srgbClr val="8A959C"/>
                </a:solidFill>
                <a:latin typeface="Calibri"/>
              </a:rPr>
              <a:t>Vos mots. Votre raisonnement. Votre responsabilité.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8A6"/>
                </a:solidFill>
                <a:latin typeface="Calibri"/>
              </a:rPr>
              <a:t>TEC.WMS — Gestion intégrée des stocks et de la performance logistique  ·  Module 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8A6"/>
                </a:solidFill>
                <a:latin typeface="Calibri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